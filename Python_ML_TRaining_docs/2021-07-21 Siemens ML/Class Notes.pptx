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e310abcf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e310abcf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e310abcf1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e310abcf1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e310abcf1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e310abcf1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Load the dataframes</a:t>
            </a:r>
            <a:endParaRPr/>
          </a:p>
          <a:p>
            <a:pPr indent="0" lvl="0" marL="0" rtl="0" algn="l">
              <a:spcBef>
                <a:spcPts val="0"/>
              </a:spcBef>
              <a:spcAft>
                <a:spcPts val="0"/>
              </a:spcAft>
              <a:buClr>
                <a:schemeClr val="dk1"/>
              </a:buClr>
              <a:buSzPts val="1100"/>
              <a:buFont typeface="Arial"/>
              <a:buNone/>
            </a:pPr>
            <a:r>
              <a:rPr lang="en"/>
              <a:t>movies = pd.read_csv("/data/movielens/movies.csv")</a:t>
            </a:r>
            <a:endParaRPr/>
          </a:p>
          <a:p>
            <a:pPr indent="0" lvl="0" marL="0" rtl="0" algn="l">
              <a:spcBef>
                <a:spcPts val="0"/>
              </a:spcBef>
              <a:spcAft>
                <a:spcPts val="0"/>
              </a:spcAft>
              <a:buClr>
                <a:schemeClr val="dk1"/>
              </a:buClr>
              <a:buSzPts val="1100"/>
              <a:buFont typeface="Arial"/>
              <a:buNone/>
            </a:pPr>
            <a:r>
              <a:rPr lang="en"/>
              <a:t>ratings = pd.read_csv("/data/movielens/ratings.csv")</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Find the number of rows and columns</a:t>
            </a:r>
            <a:endParaRPr/>
          </a:p>
          <a:p>
            <a:pPr indent="0" lvl="0" marL="0" rtl="0" algn="l">
              <a:spcBef>
                <a:spcPts val="0"/>
              </a:spcBef>
              <a:spcAft>
                <a:spcPts val="0"/>
              </a:spcAft>
              <a:buClr>
                <a:schemeClr val="dk1"/>
              </a:buClr>
              <a:buSzPts val="1100"/>
              <a:buFont typeface="Arial"/>
              <a:buNone/>
            </a:pPr>
            <a:r>
              <a:rPr lang="en"/>
              <a:t>movies.shape[0] # number of rows of movies</a:t>
            </a:r>
            <a:endParaRPr/>
          </a:p>
          <a:p>
            <a:pPr indent="0" lvl="0" marL="0" rtl="0" algn="l">
              <a:spcBef>
                <a:spcPts val="0"/>
              </a:spcBef>
              <a:spcAft>
                <a:spcPts val="0"/>
              </a:spcAft>
              <a:buClr>
                <a:schemeClr val="dk1"/>
              </a:buClr>
              <a:buSzPts val="1100"/>
              <a:buFont typeface="Arial"/>
              <a:buNone/>
            </a:pPr>
            <a:r>
              <a:rPr lang="en"/>
              <a:t>ratings.shape[0]  # number of rows of ratings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Find movies for which title contains Godfather</a:t>
            </a:r>
            <a:endParaRPr/>
          </a:p>
          <a:p>
            <a:pPr indent="0" lvl="0" marL="0" rtl="0" algn="l">
              <a:spcBef>
                <a:spcPts val="0"/>
              </a:spcBef>
              <a:spcAft>
                <a:spcPts val="0"/>
              </a:spcAft>
              <a:buClr>
                <a:schemeClr val="dk1"/>
              </a:buClr>
              <a:buSzPts val="1100"/>
              <a:buFont typeface="Arial"/>
              <a:buNone/>
            </a:pPr>
            <a:r>
              <a:rPr lang="en"/>
              <a:t>movies[movies.title.str.contains("Godfather")]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Find the number ratings for movieId = 858</a:t>
            </a:r>
            <a:endParaRPr/>
          </a:p>
          <a:p>
            <a:pPr indent="0" lvl="0" marL="0" rtl="0" algn="l">
              <a:spcBef>
                <a:spcPts val="0"/>
              </a:spcBef>
              <a:spcAft>
                <a:spcPts val="0"/>
              </a:spcAft>
              <a:buClr>
                <a:schemeClr val="dk1"/>
              </a:buClr>
              <a:buSzPts val="1100"/>
              <a:buFont typeface="Arial"/>
              <a:buNone/>
            </a:pPr>
            <a:r>
              <a:rPr lang="en"/>
              <a:t># You can find the movieId 858 from the output of above code</a:t>
            </a:r>
            <a:endParaRPr/>
          </a:p>
          <a:p>
            <a:pPr indent="0" lvl="0" marL="0" rtl="0" algn="l">
              <a:spcBef>
                <a:spcPts val="0"/>
              </a:spcBef>
              <a:spcAft>
                <a:spcPts val="0"/>
              </a:spcAft>
              <a:buClr>
                <a:schemeClr val="dk1"/>
              </a:buClr>
              <a:buSzPts val="1100"/>
              <a:buFont typeface="Arial"/>
              <a:buNone/>
            </a:pPr>
            <a:r>
              <a:rPr lang="en"/>
              <a:t>ratings[ratings.movieId == 858].shape[0]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Group by movie Id</a:t>
            </a:r>
            <a:endParaRPr/>
          </a:p>
          <a:p>
            <a:pPr indent="0" lvl="0" marL="0" rtl="0" algn="l">
              <a:spcBef>
                <a:spcPts val="0"/>
              </a:spcBef>
              <a:spcAft>
                <a:spcPts val="0"/>
              </a:spcAft>
              <a:buClr>
                <a:schemeClr val="dk1"/>
              </a:buClr>
              <a:buSzPts val="1100"/>
              <a:buFont typeface="Arial"/>
              <a:buNone/>
            </a:pPr>
            <a:r>
              <a:rPr lang="en"/>
              <a:t># Find mean and record count for each movieId</a:t>
            </a:r>
            <a:endParaRPr/>
          </a:p>
          <a:p>
            <a:pPr indent="0" lvl="0" marL="0" rtl="0" algn="l">
              <a:spcBef>
                <a:spcPts val="0"/>
              </a:spcBef>
              <a:spcAft>
                <a:spcPts val="0"/>
              </a:spcAft>
              <a:buClr>
                <a:schemeClr val="dk1"/>
              </a:buClr>
              <a:buSzPts val="1100"/>
              <a:buFont typeface="Arial"/>
              <a:buNone/>
            </a:pPr>
            <a:r>
              <a:rPr lang="en"/>
              <a:t># Filter out the movieId that has fewer than 100 rating records</a:t>
            </a:r>
            <a:endParaRPr/>
          </a:p>
          <a:p>
            <a:pPr indent="0" lvl="0" marL="0" rtl="0" algn="l">
              <a:spcBef>
                <a:spcPts val="0"/>
              </a:spcBef>
              <a:spcAft>
                <a:spcPts val="0"/>
              </a:spcAft>
              <a:buClr>
                <a:schemeClr val="dk1"/>
              </a:buClr>
              <a:buSzPts val="1100"/>
              <a:buFont typeface="Arial"/>
              <a:buNone/>
            </a:pPr>
            <a:r>
              <a:rPr lang="en"/>
              <a:t>ratings.groupby("movieId")\</a:t>
            </a:r>
            <a:endParaRPr/>
          </a:p>
          <a:p>
            <a:pPr indent="0" lvl="0" marL="0" rtl="0" algn="l">
              <a:spcBef>
                <a:spcPts val="0"/>
              </a:spcBef>
              <a:spcAft>
                <a:spcPts val="0"/>
              </a:spcAft>
              <a:buClr>
                <a:schemeClr val="dk1"/>
              </a:buClr>
              <a:buSzPts val="1100"/>
              <a:buFont typeface="Arial"/>
              <a:buNone/>
            </a:pPr>
            <a:r>
              <a:rPr lang="en"/>
              <a:t>.rating.agg(["mean", "count"])\</a:t>
            </a:r>
            <a:endParaRPr/>
          </a:p>
          <a:p>
            <a:pPr indent="0" lvl="0" marL="0" rtl="0" algn="l">
              <a:spcBef>
                <a:spcPts val="0"/>
              </a:spcBef>
              <a:spcAft>
                <a:spcPts val="0"/>
              </a:spcAft>
              <a:buClr>
                <a:schemeClr val="dk1"/>
              </a:buClr>
              <a:buSzPts val="1100"/>
              <a:buFont typeface="Arial"/>
              <a:buNone/>
            </a:pPr>
            <a:r>
              <a:rPr lang="en"/>
              <a:t>.query("count&gt;100")\</a:t>
            </a:r>
            <a:endParaRPr/>
          </a:p>
          <a:p>
            <a:pPr indent="0" lvl="0" marL="0" rtl="0" algn="l">
              <a:spcBef>
                <a:spcPts val="0"/>
              </a:spcBef>
              <a:spcAft>
                <a:spcPts val="0"/>
              </a:spcAft>
              <a:buClr>
                <a:schemeClr val="dk1"/>
              </a:buClr>
              <a:buSzPts val="1100"/>
              <a:buFont typeface="Arial"/>
              <a:buNone/>
            </a:pPr>
            <a:r>
              <a:rPr lang="en"/>
              <a:t>.shape[0]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Sort record by avg rating</a:t>
            </a:r>
            <a:endParaRPr/>
          </a:p>
          <a:p>
            <a:pPr indent="0" lvl="0" marL="0" rtl="0" algn="l">
              <a:spcBef>
                <a:spcPts val="0"/>
              </a:spcBef>
              <a:spcAft>
                <a:spcPts val="0"/>
              </a:spcAft>
              <a:buClr>
                <a:schemeClr val="dk1"/>
              </a:buClr>
              <a:buSzPts val="1100"/>
              <a:buFont typeface="Arial"/>
              <a:buNone/>
            </a:pPr>
            <a:r>
              <a:rPr lang="en"/>
              <a:t># Take 10 top values</a:t>
            </a:r>
            <a:endParaRPr/>
          </a:p>
          <a:p>
            <a:pPr indent="0" lvl="0" marL="0" rtl="0" algn="l">
              <a:spcBef>
                <a:spcPts val="0"/>
              </a:spcBef>
              <a:spcAft>
                <a:spcPts val="0"/>
              </a:spcAft>
              <a:buClr>
                <a:schemeClr val="dk1"/>
              </a:buClr>
              <a:buSzPts val="1100"/>
              <a:buFont typeface="Arial"/>
              <a:buNone/>
            </a:pPr>
            <a:r>
              <a:rPr lang="en"/>
              <a:t># merge with movies dataframe to pull title column to the output</a:t>
            </a:r>
            <a:endParaRPr/>
          </a:p>
          <a:p>
            <a:pPr indent="0" lvl="0" marL="0" rtl="0" algn="l">
              <a:spcBef>
                <a:spcPts val="0"/>
              </a:spcBef>
              <a:spcAft>
                <a:spcPts val="0"/>
              </a:spcAft>
              <a:buClr>
                <a:schemeClr val="dk1"/>
              </a:buClr>
              <a:buSzPts val="1100"/>
              <a:buFont typeface="Arial"/>
              <a:buNone/>
            </a:pPr>
            <a:r>
              <a:rPr lang="en"/>
              <a:t># select movieId, mean and title the output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ratings.groupby("movieId")\</a:t>
            </a:r>
            <a:endParaRPr/>
          </a:p>
          <a:p>
            <a:pPr indent="0" lvl="0" marL="0" rtl="0" algn="l">
              <a:spcBef>
                <a:spcPts val="0"/>
              </a:spcBef>
              <a:spcAft>
                <a:spcPts val="0"/>
              </a:spcAft>
              <a:buClr>
                <a:schemeClr val="dk1"/>
              </a:buClr>
              <a:buSzPts val="1100"/>
              <a:buFont typeface="Arial"/>
              <a:buNone/>
            </a:pPr>
            <a:r>
              <a:rPr lang="en"/>
              <a:t>.rating.agg(["mean", "count"])\</a:t>
            </a:r>
            <a:endParaRPr/>
          </a:p>
          <a:p>
            <a:pPr indent="0" lvl="0" marL="0" rtl="0" algn="l">
              <a:spcBef>
                <a:spcPts val="0"/>
              </a:spcBef>
              <a:spcAft>
                <a:spcPts val="0"/>
              </a:spcAft>
              <a:buClr>
                <a:schemeClr val="dk1"/>
              </a:buClr>
              <a:buSzPts val="1100"/>
              <a:buFont typeface="Arial"/>
              <a:buNone/>
            </a:pPr>
            <a:r>
              <a:rPr lang="en"/>
              <a:t>.query("count&gt;100")\</a:t>
            </a:r>
            <a:endParaRPr/>
          </a:p>
          <a:p>
            <a:pPr indent="0" lvl="0" marL="0" rtl="0" algn="l">
              <a:spcBef>
                <a:spcPts val="0"/>
              </a:spcBef>
              <a:spcAft>
                <a:spcPts val="0"/>
              </a:spcAft>
              <a:buClr>
                <a:schemeClr val="dk1"/>
              </a:buClr>
              <a:buSzPts val="1100"/>
              <a:buFont typeface="Arial"/>
              <a:buNone/>
            </a:pPr>
            <a:r>
              <a:rPr lang="en"/>
              <a:t>.sort_values("mean", ascending = False)\</a:t>
            </a:r>
            <a:endParaRPr/>
          </a:p>
          <a:p>
            <a:pPr indent="0" lvl="0" marL="0" rtl="0" algn="l">
              <a:spcBef>
                <a:spcPts val="0"/>
              </a:spcBef>
              <a:spcAft>
                <a:spcPts val="0"/>
              </a:spcAft>
              <a:buClr>
                <a:schemeClr val="dk1"/>
              </a:buClr>
              <a:buSzPts val="1100"/>
              <a:buFont typeface="Arial"/>
              <a:buNone/>
            </a:pPr>
            <a:r>
              <a:rPr lang="en"/>
              <a:t>.iloc[:10, :]\</a:t>
            </a:r>
            <a:endParaRPr/>
          </a:p>
          <a:p>
            <a:pPr indent="0" lvl="0" marL="0" rtl="0" algn="l">
              <a:spcBef>
                <a:spcPts val="0"/>
              </a:spcBef>
              <a:spcAft>
                <a:spcPts val="0"/>
              </a:spcAft>
              <a:buClr>
                <a:schemeClr val="dk1"/>
              </a:buClr>
              <a:buSzPts val="1100"/>
              <a:buFont typeface="Arial"/>
              <a:buNone/>
            </a:pPr>
            <a:r>
              <a:rPr lang="en"/>
              <a:t>.merge(movies, on = "movieId")\</a:t>
            </a:r>
            <a:endParaRPr/>
          </a:p>
          <a:p>
            <a:pPr indent="0" lvl="0" marL="0" rtl="0" algn="l">
              <a:spcBef>
                <a:spcPts val="0"/>
              </a:spcBef>
              <a:spcAft>
                <a:spcPts val="0"/>
              </a:spcAft>
              <a:buClr>
                <a:schemeClr val="dk1"/>
              </a:buClr>
              <a:buSzPts val="1100"/>
              <a:buFont typeface="Arial"/>
              <a:buNone/>
            </a:pPr>
            <a:r>
              <a:rPr lang="en"/>
              <a:t>[["movieId", "mean", "title"]]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e310abcf15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e310abcf15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from sklearn import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sheets = pd.read_excel("CCPP/Folds5x2_pp.xlsx", sheet_name=None).values()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df = pd.concat(sheets)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target = "EP"</a:t>
            </a:r>
            <a:endParaRPr/>
          </a:p>
          <a:p>
            <a:pPr indent="0" lvl="0" marL="0" rtl="0" algn="l">
              <a:spcBef>
                <a:spcPts val="0"/>
              </a:spcBef>
              <a:spcAft>
                <a:spcPts val="0"/>
              </a:spcAft>
              <a:buClr>
                <a:schemeClr val="dk1"/>
              </a:buClr>
              <a:buSzPts val="1100"/>
              <a:buFont typeface="Arial"/>
              <a:buNone/>
            </a:pPr>
            <a:r>
              <a:rPr lang="en"/>
              <a:t>X = df.drop(columns=[target])</a:t>
            </a:r>
            <a:endParaRPr/>
          </a:p>
          <a:p>
            <a:pPr indent="0" lvl="0" marL="0" rtl="0" algn="l">
              <a:spcBef>
                <a:spcPts val="0"/>
              </a:spcBef>
              <a:spcAft>
                <a:spcPts val="0"/>
              </a:spcAft>
              <a:buClr>
                <a:schemeClr val="dk1"/>
              </a:buClr>
              <a:buSzPts val="1100"/>
              <a:buFont typeface="Arial"/>
              <a:buNone/>
            </a:pPr>
            <a:r>
              <a:rPr lang="en"/>
              <a:t>X = pd.get_dummies(X, drop_first=True).values.astype("float")</a:t>
            </a:r>
            <a:endParaRPr/>
          </a:p>
          <a:p>
            <a:pPr indent="0" lvl="0" marL="0" rtl="0" algn="l">
              <a:spcBef>
                <a:spcPts val="0"/>
              </a:spcBef>
              <a:spcAft>
                <a:spcPts val="0"/>
              </a:spcAft>
              <a:buClr>
                <a:schemeClr val="dk1"/>
              </a:buClr>
              <a:buSzPts val="1100"/>
              <a:buFont typeface="Arial"/>
              <a:buNone/>
            </a:pPr>
            <a:r>
              <a:rPr lang="en"/>
              <a:t>y = np.log(df[target])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X_train, X_test, y_train, y_test = model_selection.train_test_split(X, y,</a:t>
            </a:r>
            <a:endParaRPr/>
          </a:p>
          <a:p>
            <a:pPr indent="0" lvl="0" marL="0" rtl="0" algn="l">
              <a:spcBef>
                <a:spcPts val="0"/>
              </a:spcBef>
              <a:spcAft>
                <a:spcPts val="0"/>
              </a:spcAft>
              <a:buClr>
                <a:schemeClr val="dk1"/>
              </a:buClr>
              <a:buSzPts val="1100"/>
              <a:buFont typeface="Arial"/>
              <a:buNone/>
            </a:pPr>
            <a:r>
              <a:rPr lang="en"/>
              <a:t>                           test_size = 0.3, random_state = 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pipe = pipeline.Pipeline([</a:t>
            </a:r>
            <a:endParaRPr/>
          </a:p>
          <a:p>
            <a:pPr indent="0" lvl="0" marL="0" rtl="0" algn="l">
              <a:spcBef>
                <a:spcPts val="0"/>
              </a:spcBef>
              <a:spcAft>
                <a:spcPts val="0"/>
              </a:spcAft>
              <a:buClr>
                <a:schemeClr val="dk1"/>
              </a:buClr>
              <a:buSzPts val="1100"/>
              <a:buFont typeface="Arial"/>
              <a:buNone/>
            </a:pPr>
            <a:r>
              <a:rPr lang="en"/>
              <a:t>    ("poly", preprocessing.PolynomialFeatures(degree=2, include_bias=False)),</a:t>
            </a:r>
            <a:endParaRPr/>
          </a:p>
          <a:p>
            <a:pPr indent="0" lvl="0" marL="0" rtl="0" algn="l">
              <a:spcBef>
                <a:spcPts val="0"/>
              </a:spcBef>
              <a:spcAft>
                <a:spcPts val="0"/>
              </a:spcAft>
              <a:buClr>
                <a:schemeClr val="dk1"/>
              </a:buClr>
              <a:buSzPts val="1100"/>
              <a:buFont typeface="Arial"/>
              <a:buNone/>
            </a:pPr>
            <a:r>
              <a:rPr lang="en"/>
              <a:t>    ("scaler", preprocessing.StandardScaler()),</a:t>
            </a:r>
            <a:endParaRPr/>
          </a:p>
          <a:p>
            <a:pPr indent="0" lvl="0" marL="0" rtl="0" algn="l">
              <a:spcBef>
                <a:spcPts val="0"/>
              </a:spcBef>
              <a:spcAft>
                <a:spcPts val="0"/>
              </a:spcAft>
              <a:buClr>
                <a:schemeClr val="dk1"/>
              </a:buClr>
              <a:buSzPts val="1100"/>
              <a:buFont typeface="Arial"/>
              <a:buNone/>
            </a:pPr>
            <a:r>
              <a:rPr lang="en"/>
              <a:t>    ("est", linear_model.LinearRegression())</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pipe.fit(X_train, y_train)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y_train_pred = pipe.predict(X_train)</a:t>
            </a:r>
            <a:endParaRPr/>
          </a:p>
          <a:p>
            <a:pPr indent="0" lvl="0" marL="0" rtl="0" algn="l">
              <a:spcBef>
                <a:spcPts val="0"/>
              </a:spcBef>
              <a:spcAft>
                <a:spcPts val="0"/>
              </a:spcAft>
              <a:buClr>
                <a:schemeClr val="dk1"/>
              </a:buClr>
              <a:buSzPts val="1100"/>
              <a:buFont typeface="Arial"/>
              <a:buNone/>
            </a:pPr>
            <a:r>
              <a:rPr lang="en"/>
              <a:t>y_test_pred = pipe.predict(X_test)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print("training r2", metrics.r2_score(y_train, y_train_pred))</a:t>
            </a:r>
            <a:endParaRPr/>
          </a:p>
          <a:p>
            <a:pPr indent="0" lvl="0" marL="0" rtl="0" algn="l">
              <a:spcBef>
                <a:spcPts val="0"/>
              </a:spcBef>
              <a:spcAft>
                <a:spcPts val="0"/>
              </a:spcAft>
              <a:buClr>
                <a:schemeClr val="dk1"/>
              </a:buClr>
              <a:buSzPts val="1100"/>
              <a:buFont typeface="Arial"/>
              <a:buNone/>
            </a:pPr>
            <a:r>
              <a:rPr lang="en"/>
              <a:t>print("test r2", metrics.r2_score(y_test, y_test_pred))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print("training rmse:", np.sqrt(metrics.mean_squared_error(y_train</a:t>
            </a:r>
            <a:endParaRPr/>
          </a:p>
          <a:p>
            <a:pPr indent="0" lvl="0" marL="0" rtl="0" algn="l">
              <a:spcBef>
                <a:spcPts val="0"/>
              </a:spcBef>
              <a:spcAft>
                <a:spcPts val="0"/>
              </a:spcAft>
              <a:buClr>
                <a:schemeClr val="dk1"/>
              </a:buClr>
              <a:buSzPts val="1100"/>
              <a:buFont typeface="Arial"/>
              <a:buNone/>
            </a:pPr>
            <a:r>
              <a:rPr lang="en"/>
              <a:t>                                                , y_train_pred)))</a:t>
            </a:r>
            <a:endParaRPr/>
          </a:p>
          <a:p>
            <a:pPr indent="0" lvl="0" marL="0" rtl="0" algn="l">
              <a:spcBef>
                <a:spcPts val="0"/>
              </a:spcBef>
              <a:spcAft>
                <a:spcPts val="0"/>
              </a:spcAft>
              <a:buClr>
                <a:schemeClr val="dk1"/>
              </a:buClr>
              <a:buSzPts val="1100"/>
              <a:buFont typeface="Arial"/>
              <a:buNone/>
            </a:pPr>
            <a:r>
              <a:rPr lang="en"/>
              <a:t>print("test rmse:", np.sqrt(metrics.mean_squared_error(y_test</a:t>
            </a:r>
            <a:endParaRPr/>
          </a:p>
          <a:p>
            <a:pPr indent="0" lvl="0" marL="0" rtl="0" algn="l">
              <a:spcBef>
                <a:spcPts val="0"/>
              </a:spcBef>
              <a:spcAft>
                <a:spcPts val="0"/>
              </a:spcAft>
              <a:buClr>
                <a:schemeClr val="dk1"/>
              </a:buClr>
              <a:buSzPts val="1100"/>
              <a:buFont typeface="Arial"/>
              <a:buNone/>
            </a:pPr>
            <a:r>
              <a:rPr lang="en"/>
              <a:t>                                            , y_test_pred)))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e310abcf15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e310abcf1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e45a9132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e45a9132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e45a91327b_2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e45a91327b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#!/usr/bin/env python</a:t>
            </a:r>
            <a:endParaRPr/>
          </a:p>
          <a:p>
            <a:pPr indent="0" lvl="0" marL="0" rtl="0" algn="l">
              <a:spcBef>
                <a:spcPts val="0"/>
              </a:spcBef>
              <a:spcAft>
                <a:spcPts val="0"/>
              </a:spcAft>
              <a:buClr>
                <a:schemeClr val="dk1"/>
              </a:buClr>
              <a:buSzPts val="1100"/>
              <a:buFont typeface="Arial"/>
              <a:buNone/>
            </a:pPr>
            <a:r>
              <a:rPr lang="en"/>
              <a:t># coding: utf-8</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import pandas as pd</a:t>
            </a:r>
            <a:endParaRPr/>
          </a:p>
          <a:p>
            <a:pPr indent="0" lvl="0" marL="0" rtl="0" algn="l">
              <a:spcBef>
                <a:spcPts val="0"/>
              </a:spcBef>
              <a:spcAft>
                <a:spcPts val="0"/>
              </a:spcAft>
              <a:buClr>
                <a:schemeClr val="dk1"/>
              </a:buClr>
              <a:buSzPts val="1100"/>
              <a:buFont typeface="Arial"/>
              <a:buNone/>
            </a:pPr>
            <a:r>
              <a:rPr lang="en"/>
              <a:t>import numpy as np</a:t>
            </a:r>
            <a:endParaRPr/>
          </a:p>
          <a:p>
            <a:pPr indent="0" lvl="0" marL="0" rtl="0" algn="l">
              <a:spcBef>
                <a:spcPts val="0"/>
              </a:spcBef>
              <a:spcAft>
                <a:spcPts val="0"/>
              </a:spcAft>
              <a:buClr>
                <a:schemeClr val="dk1"/>
              </a:buClr>
              <a:buSzPts val="1100"/>
              <a:buFont typeface="Arial"/>
              <a:buNone/>
            </a:pPr>
            <a:r>
              <a:rPr lang="en"/>
              <a:t>import matplotlib.pyplot as plt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from sklearn import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df = pd.read_csv("/Users/abasar/data/creditcard-fraud.csv")</a:t>
            </a:r>
            <a:endParaRPr/>
          </a:p>
          <a:p>
            <a:pPr indent="0" lvl="0" marL="0" rtl="0" algn="l">
              <a:spcBef>
                <a:spcPts val="0"/>
              </a:spcBef>
              <a:spcAft>
                <a:spcPts val="0"/>
              </a:spcAft>
              <a:buClr>
                <a:schemeClr val="dk1"/>
              </a:buClr>
              <a:buSzPts val="1100"/>
              <a:buFont typeface="Arial"/>
              <a:buNone/>
            </a:pPr>
            <a:r>
              <a:rPr lang="en"/>
              <a:t>df.head()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target = "Class"</a:t>
            </a:r>
            <a:endParaRPr/>
          </a:p>
          <a:p>
            <a:pPr indent="0" lvl="0" marL="0" rtl="0" algn="l">
              <a:spcBef>
                <a:spcPts val="0"/>
              </a:spcBef>
              <a:spcAft>
                <a:spcPts val="0"/>
              </a:spcAft>
              <a:buClr>
                <a:schemeClr val="dk1"/>
              </a:buClr>
              <a:buSzPts val="1100"/>
              <a:buFont typeface="Arial"/>
              <a:buNone/>
            </a:pPr>
            <a:r>
              <a:rPr lang="en"/>
              <a:t>X = df.loc[:, "V1": "V28"]</a:t>
            </a:r>
            <a:endParaRPr/>
          </a:p>
          <a:p>
            <a:pPr indent="0" lvl="0" marL="0" rtl="0" algn="l">
              <a:spcBef>
                <a:spcPts val="0"/>
              </a:spcBef>
              <a:spcAft>
                <a:spcPts val="0"/>
              </a:spcAft>
              <a:buClr>
                <a:schemeClr val="dk1"/>
              </a:buClr>
              <a:buSzPts val="1100"/>
              <a:buFont typeface="Arial"/>
              <a:buNone/>
            </a:pPr>
            <a:r>
              <a:rPr lang="en"/>
              <a:t>y = df[target]</a:t>
            </a:r>
            <a:endParaRPr/>
          </a:p>
          <a:p>
            <a:pPr indent="0" lvl="0" marL="0" rtl="0" algn="l">
              <a:spcBef>
                <a:spcPts val="0"/>
              </a:spcBef>
              <a:spcAft>
                <a:spcPts val="0"/>
              </a:spcAft>
              <a:buClr>
                <a:schemeClr val="dk1"/>
              </a:buClr>
              <a:buSzPts val="1100"/>
              <a:buFont typeface="Arial"/>
              <a:buNone/>
            </a:pPr>
            <a:r>
              <a:rPr lang="en"/>
              <a:t>X.head()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In[6]:</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training_size = int(0.7 * len(df))</a:t>
            </a:r>
            <a:endParaRPr/>
          </a:p>
          <a:p>
            <a:pPr indent="0" lvl="0" marL="0" rtl="0" algn="l">
              <a:spcBef>
                <a:spcPts val="0"/>
              </a:spcBef>
              <a:spcAft>
                <a:spcPts val="0"/>
              </a:spcAft>
              <a:buClr>
                <a:schemeClr val="dk1"/>
              </a:buClr>
              <a:buSzPts val="1100"/>
              <a:buFont typeface="Arial"/>
              <a:buNone/>
            </a:pPr>
            <a:r>
              <a:rPr lang="en"/>
              <a:t>X_train = X.values[:training_size,:]</a:t>
            </a:r>
            <a:endParaRPr/>
          </a:p>
          <a:p>
            <a:pPr indent="0" lvl="0" marL="0" rtl="0" algn="l">
              <a:spcBef>
                <a:spcPts val="0"/>
              </a:spcBef>
              <a:spcAft>
                <a:spcPts val="0"/>
              </a:spcAft>
              <a:buClr>
                <a:schemeClr val="dk1"/>
              </a:buClr>
              <a:buSzPts val="1100"/>
              <a:buFont typeface="Arial"/>
              <a:buNone/>
            </a:pPr>
            <a:r>
              <a:rPr lang="en"/>
              <a:t>X_test = X.values[training_size:,:]</a:t>
            </a:r>
            <a:endParaRPr/>
          </a:p>
          <a:p>
            <a:pPr indent="0" lvl="0" marL="0" rtl="0" algn="l">
              <a:spcBef>
                <a:spcPts val="0"/>
              </a:spcBef>
              <a:spcAft>
                <a:spcPts val="0"/>
              </a:spcAft>
              <a:buClr>
                <a:schemeClr val="dk1"/>
              </a:buClr>
              <a:buSzPts val="1100"/>
              <a:buFont typeface="Arial"/>
              <a:buNone/>
            </a:pPr>
            <a:r>
              <a:rPr lang="en"/>
              <a:t>y_train = y.values[:training_size]</a:t>
            </a:r>
            <a:endParaRPr/>
          </a:p>
          <a:p>
            <a:pPr indent="0" lvl="0" marL="0" rtl="0" algn="l">
              <a:spcBef>
                <a:spcPts val="0"/>
              </a:spcBef>
              <a:spcAft>
                <a:spcPts val="0"/>
              </a:spcAft>
              <a:buClr>
                <a:schemeClr val="dk1"/>
              </a:buClr>
              <a:buSzPts val="1100"/>
              <a:buFont typeface="Arial"/>
              <a:buNone/>
            </a:pPr>
            <a:r>
              <a:rPr lang="en"/>
              <a:t>y_test = y.values[training_size:]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In[7]:</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pd.Series(y_train).value_counts()/len(y_train)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In[8]:</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pipe = pipeline.Pipeline([</a:t>
            </a:r>
            <a:endParaRPr/>
          </a:p>
          <a:p>
            <a:pPr indent="0" lvl="0" marL="0" rtl="0" algn="l">
              <a:spcBef>
                <a:spcPts val="0"/>
              </a:spcBef>
              <a:spcAft>
                <a:spcPts val="0"/>
              </a:spcAft>
              <a:buClr>
                <a:schemeClr val="dk1"/>
              </a:buClr>
              <a:buSzPts val="1100"/>
              <a:buFont typeface="Arial"/>
              <a:buNone/>
            </a:pPr>
            <a:r>
              <a:rPr lang="en"/>
              <a:t>    ("scaler", preprocessing.StandardScaler()),</a:t>
            </a:r>
            <a:endParaRPr/>
          </a:p>
          <a:p>
            <a:pPr indent="0" lvl="0" marL="0" rtl="0" algn="l">
              <a:spcBef>
                <a:spcPts val="0"/>
              </a:spcBef>
              <a:spcAft>
                <a:spcPts val="0"/>
              </a:spcAft>
              <a:buClr>
                <a:schemeClr val="dk1"/>
              </a:buClr>
              <a:buSzPts val="1100"/>
              <a:buFont typeface="Arial"/>
              <a:buNone/>
            </a:pPr>
            <a:r>
              <a:rPr lang="en"/>
              <a:t>    ("est", linear_model.LogisticRegression())</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pipe.fit(X_train, y_train)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y_train_pred = pipe.predict(X_train)</a:t>
            </a:r>
            <a:endParaRPr/>
          </a:p>
          <a:p>
            <a:pPr indent="0" lvl="0" marL="0" rtl="0" algn="l">
              <a:spcBef>
                <a:spcPts val="0"/>
              </a:spcBef>
              <a:spcAft>
                <a:spcPts val="0"/>
              </a:spcAft>
              <a:buClr>
                <a:schemeClr val="dk1"/>
              </a:buClr>
              <a:buSzPts val="1100"/>
              <a:buFont typeface="Arial"/>
              <a:buNone/>
            </a:pPr>
            <a:r>
              <a:rPr lang="en"/>
              <a:t>y_test_pred = pipe.predict(X_test)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y_train_proba = pipe.predict_proba(X_train)[:,1]</a:t>
            </a:r>
            <a:endParaRPr/>
          </a:p>
          <a:p>
            <a:pPr indent="0" lvl="0" marL="0" rtl="0" algn="l">
              <a:spcBef>
                <a:spcPts val="0"/>
              </a:spcBef>
              <a:spcAft>
                <a:spcPts val="0"/>
              </a:spcAft>
              <a:buClr>
                <a:schemeClr val="dk1"/>
              </a:buClr>
              <a:buSzPts val="1100"/>
              <a:buFont typeface="Arial"/>
              <a:buNone/>
            </a:pPr>
            <a:r>
              <a:rPr lang="en"/>
              <a:t>y_test_proba = pipe.predict_proba(X_test)[:,1]</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print("test precision: ", metrics.precision_score(y_test, y_test_pred))</a:t>
            </a:r>
            <a:endParaRPr/>
          </a:p>
          <a:p>
            <a:pPr indent="0" lvl="0" marL="0" rtl="0" algn="l">
              <a:spcBef>
                <a:spcPts val="0"/>
              </a:spcBef>
              <a:spcAft>
                <a:spcPts val="0"/>
              </a:spcAft>
              <a:buClr>
                <a:schemeClr val="dk1"/>
              </a:buClr>
              <a:buSzPts val="1100"/>
              <a:buFont typeface="Arial"/>
              <a:buNone/>
            </a:pPr>
            <a:r>
              <a:rPr lang="en"/>
              <a:t>print("train precision: ", metrics.precision_score(y_train, y_train_pred))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print("test recall: ", metrics.recall_score(y_test, y_test_pred))</a:t>
            </a:r>
            <a:endParaRPr/>
          </a:p>
          <a:p>
            <a:pPr indent="0" lvl="0" marL="0" rtl="0" algn="l">
              <a:spcBef>
                <a:spcPts val="0"/>
              </a:spcBef>
              <a:spcAft>
                <a:spcPts val="0"/>
              </a:spcAft>
              <a:buClr>
                <a:schemeClr val="dk1"/>
              </a:buClr>
              <a:buSzPts val="1100"/>
              <a:buFont typeface="Arial"/>
              <a:buNone/>
            </a:pPr>
            <a:r>
              <a:rPr lang="en"/>
              <a:t>print("train recall: ", metrics.recall_score(y_train, y_train_pred))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print("test accuracy: ", metrics.accuracy_score(y_test, y_test_pred))</a:t>
            </a:r>
            <a:endParaRPr/>
          </a:p>
          <a:p>
            <a:pPr indent="0" lvl="0" marL="0" rtl="0" algn="l">
              <a:spcBef>
                <a:spcPts val="0"/>
              </a:spcBef>
              <a:spcAft>
                <a:spcPts val="0"/>
              </a:spcAft>
              <a:buClr>
                <a:schemeClr val="dk1"/>
              </a:buClr>
              <a:buSzPts val="1100"/>
              <a:buFont typeface="Arial"/>
              <a:buNone/>
            </a:pPr>
            <a:r>
              <a:rPr lang="en"/>
              <a:t>print("train accuracy: ", metrics.accuracy_score(y_train, y_train_pred))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In[9]:</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metrics.confusion_matrix(y_test, y_test_pred)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In[13]: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prob_threshold = 0.1</a:t>
            </a:r>
            <a:endParaRPr/>
          </a:p>
          <a:p>
            <a:pPr indent="0" lvl="0" marL="0" rtl="0" algn="l">
              <a:spcBef>
                <a:spcPts val="0"/>
              </a:spcBef>
              <a:spcAft>
                <a:spcPts val="0"/>
              </a:spcAft>
              <a:buClr>
                <a:schemeClr val="dk1"/>
              </a:buClr>
              <a:buSzPts val="1100"/>
              <a:buFont typeface="Arial"/>
              <a:buNone/>
            </a:pPr>
            <a:r>
              <a:rPr lang="en"/>
              <a:t>y_train_pred = np.where(y_train_proba &gt; prob_threshold, 1, 0)</a:t>
            </a:r>
            <a:endParaRPr/>
          </a:p>
          <a:p>
            <a:pPr indent="0" lvl="0" marL="0" rtl="0" algn="l">
              <a:spcBef>
                <a:spcPts val="0"/>
              </a:spcBef>
              <a:spcAft>
                <a:spcPts val="0"/>
              </a:spcAft>
              <a:buClr>
                <a:schemeClr val="dk1"/>
              </a:buClr>
              <a:buSzPts val="1100"/>
              <a:buFont typeface="Arial"/>
              <a:buNone/>
            </a:pPr>
            <a:r>
              <a:rPr lang="en"/>
              <a:t>y_test_pred = np.where(y_test_proba &gt; prob_threshold, 1, 0)</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print("test precision: ", metrics.precision_score(y_test, y_test_pred))</a:t>
            </a:r>
            <a:endParaRPr/>
          </a:p>
          <a:p>
            <a:pPr indent="0" lvl="0" marL="0" rtl="0" algn="l">
              <a:spcBef>
                <a:spcPts val="0"/>
              </a:spcBef>
              <a:spcAft>
                <a:spcPts val="0"/>
              </a:spcAft>
              <a:buClr>
                <a:schemeClr val="dk1"/>
              </a:buClr>
              <a:buSzPts val="1100"/>
              <a:buFont typeface="Arial"/>
              <a:buNone/>
            </a:pPr>
            <a:r>
              <a:rPr lang="en"/>
              <a:t>print("train precision: ", metrics.precision_score(y_train, y_train_pred))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print("test recall: ", metrics.recall_score(y_test, y_test_pred))</a:t>
            </a:r>
            <a:endParaRPr/>
          </a:p>
          <a:p>
            <a:pPr indent="0" lvl="0" marL="0" rtl="0" algn="l">
              <a:spcBef>
                <a:spcPts val="0"/>
              </a:spcBef>
              <a:spcAft>
                <a:spcPts val="0"/>
              </a:spcAft>
              <a:buClr>
                <a:schemeClr val="dk1"/>
              </a:buClr>
              <a:buSzPts val="1100"/>
              <a:buFont typeface="Arial"/>
              <a:buNone/>
            </a:pPr>
            <a:r>
              <a:rPr lang="en"/>
              <a:t>print("train recall: ", metrics.recall_score(y_train, y_train_pred))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print("test accuracy: ", metrics.accuracy_score(y_test, y_test_pred))</a:t>
            </a:r>
            <a:endParaRPr/>
          </a:p>
          <a:p>
            <a:pPr indent="0" lvl="0" marL="0" rtl="0" algn="l">
              <a:spcBef>
                <a:spcPts val="0"/>
              </a:spcBef>
              <a:spcAft>
                <a:spcPts val="0"/>
              </a:spcAft>
              <a:buClr>
                <a:schemeClr val="dk1"/>
              </a:buClr>
              <a:buSzPts val="1100"/>
              <a:buFont typeface="Arial"/>
              <a:buNone/>
            </a:pPr>
            <a:r>
              <a:rPr lang="en"/>
              <a:t>print("train accuracy: ", metrics.accuracy_score(y_train, y_train_pred))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metrics.confusion_matrix(y_test, y_test_pred)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In[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e6085292f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e6085292f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e6085292f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e6085292f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mailto:abulbasar@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rive.google.com/drive/folders/1qw417lk19lOqG4kGOdzKHiNSD7zYSeAp?usp=sharing" TargetMode="External"/><Relationship Id="rId4" Type="http://schemas.openxmlformats.org/officeDocument/2006/relationships/hyperlink" Target="https://github.com/abulbasar/machine-learning" TargetMode="External"/><Relationship Id="rId11" Type="http://schemas.openxmlformats.org/officeDocument/2006/relationships/hyperlink" Target="https://docs.google.com/document/d/1uCnH70AO22_MeDrYDlz4x82kQ4sJKMOYgfc8YvVvtkA/edit?usp=sharing" TargetMode="External"/><Relationship Id="rId10" Type="http://schemas.openxmlformats.org/officeDocument/2006/relationships/hyperlink" Target="https://drive.google.com/drive/folders/1MduQt7HhSpYYCUCBOOGNo_E1kajscG5J?usp=sharing" TargetMode="External"/><Relationship Id="rId12" Type="http://schemas.openxmlformats.org/officeDocument/2006/relationships/hyperlink" Target="https://drive.google.com/drive/folders/1h1H8GPykTfafSECoIj87JDMKEEenbajy?usp=sharing" TargetMode="External"/><Relationship Id="rId9" Type="http://schemas.openxmlformats.org/officeDocument/2006/relationships/hyperlink" Target="https://github.com/abulbasar/data" TargetMode="External"/><Relationship Id="rId5" Type="http://schemas.openxmlformats.org/officeDocument/2006/relationships/hyperlink" Target="https://github.com/abulbasar/neural-networks" TargetMode="External"/><Relationship Id="rId6" Type="http://schemas.openxmlformats.org/officeDocument/2006/relationships/hyperlink" Target="https://drive.google.com/drive/folders/1GgPS9BHuZWkdWHMPMey-q9xDJApBQ7kU?usp=sharing" TargetMode="External"/><Relationship Id="rId7" Type="http://schemas.openxmlformats.org/officeDocument/2006/relationships/hyperlink" Target="https://docs.google.com/presentation/d/1BymWx4SmRNTL4j_ejV2wmtD2942LAnUnjmboj_sZrqc/edit?usp=sharing" TargetMode="External"/><Relationship Id="rId8" Type="http://schemas.openxmlformats.org/officeDocument/2006/relationships/hyperlink" Target="https://docs.google.com/presentation/d/13YV8J5iF2_g1XL9nteLxUFwt10lZ4yoW5r73nPs__X4/edit?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abulbasar/data/tree/master/movielens" TargetMode="External"/><Relationship Id="rId4" Type="http://schemas.openxmlformats.org/officeDocument/2006/relationships/hyperlink" Target="https://raw.githubusercontent.com/abulbasar/data/master/movielens/movies.csv" TargetMode="External"/><Relationship Id="rId5" Type="http://schemas.openxmlformats.org/officeDocument/2006/relationships/hyperlink" Target="https://raw.githubusercontent.com/abulbasar/data/master/movielens/ratings.csv"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archive.ics.uci.edu/ml/datasets/combined+cycle+power+plan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kaggle.com/c/house-prices-advanced-regression-techniques/data" TargetMode="External"/><Relationship Id="rId4" Type="http://schemas.openxmlformats.org/officeDocument/2006/relationships/hyperlink" Target="https://raw.githubusercontent.com/abulbasar/data/master/kaggle-houseprice/data_combined_cleaned.csv" TargetMode="External"/><Relationship Id="rId5" Type="http://schemas.openxmlformats.org/officeDocument/2006/relationships/hyperlink" Target="https://github.com/abulbasar/machine-learning/blob/master/Scikit%20-%2020%20Kaggle%20House%20Data%20Preprocessing.ipynb" TargetMode="External"/><Relationship Id="rId6" Type="http://schemas.openxmlformats.org/officeDocument/2006/relationships/hyperlink" Target="https://github.com/abulbasar/machine-learning/blob/master/Scikit%20-%2029%20Build%20End%20to%20End%20pipeline.ipynb" TargetMode="External"/><Relationship Id="rId7" Type="http://schemas.openxmlformats.org/officeDocument/2006/relationships/hyperlink" Target="https://github.com/abulbasar/machine-learning/blob/master/Scikit%20-%2021%20Kaggle%20House%20price%20prediction%20(regression).ipynb"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rive.google.com/file/d/1utOqXtG4FnO_GObQem5TrcLu8cZ0kQO4/view?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rive.google.com/file/d/1j2qBSyUwvYTQZEzCLoycpfZXepkqqpNq/view?usp=shar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google.com/forms/d/e/1FAIpQLSfBWViR20nYGDlHxYGKQUMjcO8aLMs-vTy8hfFgg--u0FTcUA/viewfor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Class Notes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Abul Basar</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abulbasar@gmail.com</a:t>
            </a:r>
            <a:endParaRPr/>
          </a:p>
          <a:p>
            <a:pPr indent="-342900" lvl="0" marL="457200" rtl="0" algn="l">
              <a:spcBef>
                <a:spcPts val="0"/>
              </a:spcBef>
              <a:spcAft>
                <a:spcPts val="0"/>
              </a:spcAft>
              <a:buSzPts val="1800"/>
              <a:buChar char="●"/>
            </a:pPr>
            <a:r>
              <a:rPr lang="en"/>
              <a:t>github.com/abulbasar</a:t>
            </a:r>
            <a:endParaRPr/>
          </a:p>
          <a:p>
            <a:pPr indent="-342900" lvl="0" marL="457200" rtl="0" algn="l">
              <a:spcBef>
                <a:spcPts val="0"/>
              </a:spcBef>
              <a:spcAft>
                <a:spcPts val="0"/>
              </a:spcAft>
              <a:buSzPts val="1800"/>
              <a:buChar char="●"/>
            </a:pPr>
            <a:r>
              <a:rPr lang="en"/>
              <a:t>linkedin.com/in/abulbasar</a:t>
            </a:r>
            <a:endParaRPr/>
          </a:p>
          <a:p>
            <a:pPr indent="-342900" lvl="0" marL="457200" rtl="0" algn="l">
              <a:spcBef>
                <a:spcPts val="0"/>
              </a:spcBef>
              <a:spcAft>
                <a:spcPts val="0"/>
              </a:spcAft>
              <a:buSzPts val="1800"/>
              <a:buChar char="●"/>
            </a:pPr>
            <a:r>
              <a:rPr lang="en"/>
              <a:t>blog.einext.com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Links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u="sng">
                <a:solidFill>
                  <a:schemeClr val="hlink"/>
                </a:solidFill>
                <a:hlinkClick r:id="rId3"/>
              </a:rPr>
              <a:t>Training Directory</a:t>
            </a:r>
            <a:r>
              <a:rPr lang="en" sz="1400">
                <a:solidFill>
                  <a:srgbClr val="0000FF"/>
                </a:solidFill>
              </a:rPr>
              <a:t> </a:t>
            </a:r>
            <a:r>
              <a:rPr lang="en" sz="1400">
                <a:solidFill>
                  <a:schemeClr val="accent1"/>
                </a:solidFill>
              </a:rPr>
              <a:t>(contains the training demos)</a:t>
            </a:r>
            <a:endParaRPr b="1" sz="1600">
              <a:solidFill>
                <a:srgbClr val="FF0000"/>
              </a:solidFill>
            </a:endParaRPr>
          </a:p>
          <a:p>
            <a:pPr indent="-317500" lvl="0" marL="457200" rtl="0" algn="l">
              <a:spcBef>
                <a:spcPts val="0"/>
              </a:spcBef>
              <a:spcAft>
                <a:spcPts val="0"/>
              </a:spcAft>
              <a:buSzPts val="1400"/>
              <a:buChar char="●"/>
            </a:pPr>
            <a:r>
              <a:rPr lang="en" sz="1400" u="sng">
                <a:solidFill>
                  <a:schemeClr val="hlink"/>
                </a:solidFill>
                <a:hlinkClick r:id="rId4"/>
              </a:rPr>
              <a:t>Machine learning Git</a:t>
            </a:r>
            <a:endParaRPr sz="1400"/>
          </a:p>
          <a:p>
            <a:pPr indent="-317500" lvl="0" marL="457200" rtl="0" algn="l">
              <a:spcBef>
                <a:spcPts val="0"/>
              </a:spcBef>
              <a:spcAft>
                <a:spcPts val="0"/>
              </a:spcAft>
              <a:buSzPts val="1400"/>
              <a:buChar char="●"/>
            </a:pPr>
            <a:r>
              <a:rPr lang="en" sz="1400" u="sng">
                <a:solidFill>
                  <a:schemeClr val="hlink"/>
                </a:solidFill>
                <a:hlinkClick r:id="rId5"/>
              </a:rPr>
              <a:t>Neural Networks Git</a:t>
            </a:r>
            <a:endParaRPr sz="1400"/>
          </a:p>
          <a:p>
            <a:pPr indent="-317500" lvl="0" marL="457200" rtl="0" algn="l">
              <a:spcBef>
                <a:spcPts val="0"/>
              </a:spcBef>
              <a:spcAft>
                <a:spcPts val="0"/>
              </a:spcAft>
              <a:buSzPts val="1400"/>
              <a:buChar char="●"/>
            </a:pPr>
            <a:r>
              <a:rPr lang="en" sz="1400" u="sng">
                <a:solidFill>
                  <a:schemeClr val="hlink"/>
                </a:solidFill>
                <a:hlinkClick r:id="rId6"/>
              </a:rPr>
              <a:t>Docs</a:t>
            </a:r>
            <a:endParaRPr sz="1400"/>
          </a:p>
          <a:p>
            <a:pPr indent="-317500" lvl="0" marL="457200" rtl="0" algn="l">
              <a:spcBef>
                <a:spcPts val="0"/>
              </a:spcBef>
              <a:spcAft>
                <a:spcPts val="0"/>
              </a:spcAft>
              <a:buSzPts val="1400"/>
              <a:buChar char="●"/>
            </a:pPr>
            <a:r>
              <a:rPr lang="en" sz="1400" u="sng">
                <a:solidFill>
                  <a:schemeClr val="hlink"/>
                </a:solidFill>
                <a:hlinkClick r:id="rId7"/>
              </a:rPr>
              <a:t>ML Live doc</a:t>
            </a:r>
            <a:r>
              <a:rPr lang="en" sz="1400"/>
              <a:t> (machine learning slide)</a:t>
            </a:r>
            <a:endParaRPr sz="1400"/>
          </a:p>
          <a:p>
            <a:pPr indent="-317500" lvl="0" marL="457200" rtl="0" algn="l">
              <a:spcBef>
                <a:spcPts val="0"/>
              </a:spcBef>
              <a:spcAft>
                <a:spcPts val="0"/>
              </a:spcAft>
              <a:buSzPts val="1400"/>
              <a:buChar char="●"/>
            </a:pPr>
            <a:r>
              <a:rPr lang="en" sz="1400" u="sng">
                <a:solidFill>
                  <a:schemeClr val="hlink"/>
                </a:solidFill>
                <a:hlinkClick r:id="rId8"/>
              </a:rPr>
              <a:t>ML live exercise doc</a:t>
            </a:r>
            <a:endParaRPr sz="1400"/>
          </a:p>
          <a:p>
            <a:pPr indent="-317500" lvl="0" marL="457200" rtl="0" algn="l">
              <a:spcBef>
                <a:spcPts val="0"/>
              </a:spcBef>
              <a:spcAft>
                <a:spcPts val="0"/>
              </a:spcAft>
              <a:buSzPts val="1400"/>
              <a:buChar char="●"/>
            </a:pPr>
            <a:r>
              <a:rPr lang="en" sz="1400" u="sng">
                <a:solidFill>
                  <a:schemeClr val="hlink"/>
                </a:solidFill>
                <a:hlinkClick r:id="rId9"/>
              </a:rPr>
              <a:t>Data Directory Github</a:t>
            </a:r>
            <a:endParaRPr sz="1400"/>
          </a:p>
          <a:p>
            <a:pPr indent="-317500" lvl="0" marL="457200" rtl="0" algn="l">
              <a:spcBef>
                <a:spcPts val="0"/>
              </a:spcBef>
              <a:spcAft>
                <a:spcPts val="0"/>
              </a:spcAft>
              <a:buClr>
                <a:schemeClr val="dk1"/>
              </a:buClr>
              <a:buSzPts val="1400"/>
              <a:buChar char="●"/>
            </a:pPr>
            <a:r>
              <a:rPr lang="en" sz="1400" u="sng">
                <a:solidFill>
                  <a:schemeClr val="hlink"/>
                </a:solidFill>
                <a:hlinkClick r:id="rId10"/>
              </a:rPr>
              <a:t>Data Directory Google drive</a:t>
            </a:r>
            <a:endParaRPr sz="1400" u="sng">
              <a:solidFill>
                <a:schemeClr val="hlink"/>
              </a:solidFill>
            </a:endParaRPr>
          </a:p>
          <a:p>
            <a:pPr indent="-317500" lvl="0" marL="457200" marR="0" rtl="0" algn="l">
              <a:lnSpc>
                <a:spcPct val="115000"/>
              </a:lnSpc>
              <a:spcBef>
                <a:spcPts val="0"/>
              </a:spcBef>
              <a:spcAft>
                <a:spcPts val="0"/>
              </a:spcAft>
              <a:buClr>
                <a:schemeClr val="dk1"/>
              </a:buClr>
              <a:buSzPts val="1400"/>
              <a:buChar char="●"/>
            </a:pPr>
            <a:r>
              <a:rPr lang="en" sz="1400" u="sng">
                <a:solidFill>
                  <a:schemeClr val="hlink"/>
                </a:solidFill>
                <a:hlinkClick r:id="rId11"/>
              </a:rPr>
              <a:t>Pre-reading materials</a:t>
            </a:r>
            <a:endParaRPr sz="1400" u="sng">
              <a:solidFill>
                <a:schemeClr val="hlink"/>
              </a:solidFill>
            </a:endParaRPr>
          </a:p>
          <a:p>
            <a:pPr indent="-317500" lvl="0" marL="457200" marR="0" rtl="0" algn="l">
              <a:lnSpc>
                <a:spcPct val="115000"/>
              </a:lnSpc>
              <a:spcBef>
                <a:spcPts val="0"/>
              </a:spcBef>
              <a:spcAft>
                <a:spcPts val="0"/>
              </a:spcAft>
              <a:buClr>
                <a:schemeClr val="hlink"/>
              </a:buClr>
              <a:buSzPts val="1400"/>
              <a:buChar char="●"/>
            </a:pPr>
            <a:r>
              <a:rPr lang="en" sz="1400" u="sng">
                <a:solidFill>
                  <a:schemeClr val="hlink"/>
                </a:solidFill>
                <a:hlinkClick r:id="rId12"/>
              </a:rPr>
              <a:t>Reinforcement Learning</a:t>
            </a:r>
            <a:endParaRPr sz="1400" u="sng">
              <a:solidFill>
                <a:schemeClr val="hlink"/>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0000"/>
                </a:solidFill>
              </a:rPr>
              <a:t>Pandas Dataframe: Top 10 movies</a:t>
            </a:r>
            <a:endParaRPr>
              <a:solidFill>
                <a:srgbClr val="000000"/>
              </a:solidFill>
            </a:endParaRPr>
          </a:p>
        </p:txBody>
      </p:sp>
      <p:sp>
        <p:nvSpPr>
          <p:cNvPr id="73" name="Google Shape;73;p16"/>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400" u="sng">
                <a:solidFill>
                  <a:schemeClr val="hlink"/>
                </a:solidFill>
                <a:hlinkClick r:id="rId3"/>
              </a:rPr>
              <a:t>Dataset</a:t>
            </a:r>
            <a:r>
              <a:rPr lang="en" sz="1400"/>
              <a:t>, </a:t>
            </a:r>
            <a:r>
              <a:rPr lang="en" sz="1400">
                <a:solidFill>
                  <a:srgbClr val="000000"/>
                </a:solidFill>
              </a:rPr>
              <a:t>source: grouplens.org</a:t>
            </a:r>
            <a:endParaRPr sz="1400">
              <a:solidFill>
                <a:srgbClr val="000000"/>
              </a:solidFill>
            </a:endParaRPr>
          </a:p>
          <a:p>
            <a:pPr indent="0" lvl="0" marL="0" rtl="0" algn="l">
              <a:lnSpc>
                <a:spcPct val="100000"/>
              </a:lnSpc>
              <a:spcBef>
                <a:spcPts val="0"/>
              </a:spcBef>
              <a:spcAft>
                <a:spcPts val="0"/>
              </a:spcAft>
              <a:buClr>
                <a:schemeClr val="dk1"/>
              </a:buClr>
              <a:buSzPts val="1100"/>
              <a:buFont typeface="Arial"/>
              <a:buNone/>
            </a:pPr>
            <a:r>
              <a:t/>
            </a:r>
            <a:endParaRPr sz="1400"/>
          </a:p>
          <a:p>
            <a:pPr indent="0" lvl="0" marL="0" rtl="0" algn="l">
              <a:lnSpc>
                <a:spcPct val="100000"/>
              </a:lnSpc>
              <a:spcBef>
                <a:spcPts val="0"/>
              </a:spcBef>
              <a:spcAft>
                <a:spcPts val="0"/>
              </a:spcAft>
              <a:buClr>
                <a:schemeClr val="dk1"/>
              </a:buClr>
              <a:buSzPts val="1100"/>
              <a:buFont typeface="Arial"/>
              <a:buNone/>
            </a:pPr>
            <a:r>
              <a:rPr lang="en" sz="1400">
                <a:solidFill>
                  <a:srgbClr val="000000"/>
                </a:solidFill>
              </a:rPr>
              <a:t>1. Load movies.csv as movies dataframe and ratings.csv as ratings dataframe</a:t>
            </a:r>
            <a:endParaRPr sz="1400">
              <a:solidFill>
                <a:srgbClr val="000000"/>
              </a:solidFill>
            </a:endParaRPr>
          </a:p>
          <a:p>
            <a:pPr indent="0" lvl="0" marL="0" marR="0" rtl="0" algn="l">
              <a:lnSpc>
                <a:spcPct val="100000"/>
              </a:lnSpc>
              <a:spcBef>
                <a:spcPts val="0"/>
              </a:spcBef>
              <a:spcAft>
                <a:spcPts val="0"/>
              </a:spcAft>
              <a:buClr>
                <a:schemeClr val="dk1"/>
              </a:buClr>
              <a:buSzPts val="1100"/>
              <a:buFont typeface="Arial"/>
              <a:buNone/>
            </a:pPr>
            <a:r>
              <a:rPr lang="en" sz="1400">
                <a:solidFill>
                  <a:srgbClr val="000000"/>
                </a:solidFill>
              </a:rPr>
              <a:t>2. How many records are there in movies and ratings dataf</a:t>
            </a:r>
            <a:r>
              <a:rPr lang="en" sz="1400"/>
              <a:t>rame [movies: 9125, ratings: 100004]</a:t>
            </a:r>
            <a:endParaRPr sz="1400"/>
          </a:p>
          <a:p>
            <a:pPr indent="0" lvl="0" marL="0" rtl="0" algn="l">
              <a:lnSpc>
                <a:spcPct val="100000"/>
              </a:lnSpc>
              <a:spcBef>
                <a:spcPts val="0"/>
              </a:spcBef>
              <a:spcAft>
                <a:spcPts val="0"/>
              </a:spcAft>
              <a:buClr>
                <a:schemeClr val="dk1"/>
              </a:buClr>
              <a:buSzPts val="1100"/>
              <a:buFont typeface="Arial"/>
              <a:buNone/>
            </a:pPr>
            <a:r>
              <a:rPr lang="en" sz="1400">
                <a:solidFill>
                  <a:srgbClr val="000000"/>
                </a:solidFill>
              </a:rPr>
              <a:t>3. Find the movies, for which title contains Godfather? [Hint: use movies.titl</a:t>
            </a:r>
            <a:r>
              <a:rPr lang="en" sz="1400"/>
              <a:t>e.str.contains() to find substring in title</a:t>
            </a:r>
            <a:r>
              <a:rPr lang="en" sz="1400">
                <a:solidFill>
                  <a:srgbClr val="000000"/>
                </a:solidFill>
              </a:rPr>
              <a:t>]</a:t>
            </a:r>
            <a:endParaRPr sz="1400">
              <a:solidFill>
                <a:srgbClr val="000000"/>
              </a:solidFill>
            </a:endParaRPr>
          </a:p>
          <a:p>
            <a:pPr indent="0" lvl="0" marL="0" rtl="0" algn="l">
              <a:lnSpc>
                <a:spcPct val="100000"/>
              </a:lnSpc>
              <a:spcBef>
                <a:spcPts val="0"/>
              </a:spcBef>
              <a:spcAft>
                <a:spcPts val="0"/>
              </a:spcAft>
              <a:buNone/>
            </a:pPr>
            <a:r>
              <a:rPr lang="en" sz="1400">
                <a:solidFill>
                  <a:srgbClr val="000000"/>
                </a:solidFill>
              </a:rPr>
              <a:t>4. How many ratings the movie "Godfather, The (1972)" has received?[Answer: 200]</a:t>
            </a:r>
            <a:endParaRPr sz="1400">
              <a:solidFill>
                <a:srgbClr val="000000"/>
              </a:solidFill>
            </a:endParaRPr>
          </a:p>
          <a:p>
            <a:pPr indent="0" lvl="0" marL="0" rtl="0" algn="l">
              <a:lnSpc>
                <a:spcPct val="100000"/>
              </a:lnSpc>
              <a:spcBef>
                <a:spcPts val="0"/>
              </a:spcBef>
              <a:spcAft>
                <a:spcPts val="0"/>
              </a:spcAft>
              <a:buClr>
                <a:schemeClr val="dk1"/>
              </a:buClr>
              <a:buSzPts val="1100"/>
              <a:buFont typeface="Arial"/>
              <a:buNone/>
            </a:pPr>
            <a:r>
              <a:rPr lang="en" sz="1400">
                <a:solidFill>
                  <a:srgbClr val="000000"/>
                </a:solidFill>
              </a:rPr>
              <a:t>5. Using ratings dataframe, calculate average rating and number of ratings for each movie. What is the average rating for "Godfather, The (1972)" [Answer: 4.487]</a:t>
            </a:r>
            <a:endParaRPr sz="1400">
              <a:solidFill>
                <a:srgbClr val="000000"/>
              </a:solidFill>
            </a:endParaRPr>
          </a:p>
          <a:p>
            <a:pPr indent="0" lvl="0" marL="0" rtl="0" algn="l">
              <a:lnSpc>
                <a:spcPct val="100000"/>
              </a:lnSpc>
              <a:spcBef>
                <a:spcPts val="0"/>
              </a:spcBef>
              <a:spcAft>
                <a:spcPts val="0"/>
              </a:spcAft>
              <a:buClr>
                <a:schemeClr val="dk1"/>
              </a:buClr>
              <a:buSzPts val="1100"/>
              <a:buFont typeface="Arial"/>
              <a:buNone/>
            </a:pPr>
            <a:r>
              <a:rPr lang="en" sz="1400">
                <a:solidFill>
                  <a:srgbClr val="000000"/>
                </a:solidFill>
              </a:rPr>
              <a:t>6. </a:t>
            </a:r>
            <a:r>
              <a:rPr lang="en" sz="1400"/>
              <a:t>Select</a:t>
            </a:r>
            <a:r>
              <a:rPr lang="en" sz="1400">
                <a:solidFill>
                  <a:srgbClr val="000000"/>
                </a:solidFill>
              </a:rPr>
              <a:t> all movie Ids that have received </a:t>
            </a:r>
            <a:r>
              <a:rPr lang="en" sz="1400"/>
              <a:t>more</a:t>
            </a:r>
            <a:r>
              <a:rPr lang="en" sz="1400">
                <a:solidFill>
                  <a:srgbClr val="000000"/>
                </a:solidFill>
              </a:rPr>
              <a:t> than 100 ratings. How many movies are there having more than 100 ratings? [Answer: 149]</a:t>
            </a:r>
            <a:endParaRPr sz="1400">
              <a:solidFill>
                <a:srgbClr val="000000"/>
              </a:solidFill>
            </a:endParaRPr>
          </a:p>
          <a:p>
            <a:pPr indent="0" lvl="0" marL="0" rtl="0" algn="l">
              <a:lnSpc>
                <a:spcPct val="100000"/>
              </a:lnSpc>
              <a:spcBef>
                <a:spcPts val="0"/>
              </a:spcBef>
              <a:spcAft>
                <a:spcPts val="0"/>
              </a:spcAft>
              <a:buClr>
                <a:schemeClr val="dk1"/>
              </a:buClr>
              <a:buSzPts val="1100"/>
              <a:buFont typeface="Arial"/>
              <a:buNone/>
            </a:pPr>
            <a:r>
              <a:rPr lang="en" sz="1400">
                <a:solidFill>
                  <a:srgbClr val="000000"/>
                </a:solidFill>
              </a:rPr>
              <a:t>7. </a:t>
            </a:r>
            <a:r>
              <a:rPr lang="en" sz="1400"/>
              <a:t>From the </a:t>
            </a:r>
            <a:r>
              <a:rPr lang="en" sz="1400">
                <a:solidFill>
                  <a:srgbClr val="000000"/>
                </a:solidFill>
              </a:rPr>
              <a:t>output of step 5 and 6</a:t>
            </a:r>
            <a:r>
              <a:rPr lang="en" sz="1400"/>
              <a:t>, t</a:t>
            </a:r>
            <a:r>
              <a:rPr lang="en" sz="1400">
                <a:solidFill>
                  <a:srgbClr val="000000"/>
                </a:solidFill>
              </a:rPr>
              <a:t>ake top 10 records with highest avg</a:t>
            </a:r>
            <a:r>
              <a:rPr lang="en" sz="1400"/>
              <a:t> rating</a:t>
            </a:r>
            <a:r>
              <a:rPr lang="en" sz="1400">
                <a:solidFill>
                  <a:srgbClr val="000000"/>
                </a:solidFill>
              </a:rPr>
              <a:t>. </a:t>
            </a:r>
            <a:r>
              <a:rPr lang="en" sz="1400"/>
              <a:t>[Hint: use sort and iloc]</a:t>
            </a:r>
            <a:r>
              <a:rPr lang="en" sz="1400">
                <a:solidFill>
                  <a:srgbClr val="000000"/>
                </a:solidFill>
              </a:rPr>
              <a:t> </a:t>
            </a:r>
            <a:endParaRPr sz="1400">
              <a:solidFill>
                <a:srgbClr val="000000"/>
              </a:solidFill>
            </a:endParaRPr>
          </a:p>
          <a:p>
            <a:pPr indent="0" lvl="0" marL="0" rtl="0" algn="l">
              <a:lnSpc>
                <a:spcPct val="100000"/>
              </a:lnSpc>
              <a:spcBef>
                <a:spcPts val="0"/>
              </a:spcBef>
              <a:spcAft>
                <a:spcPts val="0"/>
              </a:spcAft>
              <a:buClr>
                <a:schemeClr val="dk1"/>
              </a:buClr>
              <a:buSzPts val="1100"/>
              <a:buFont typeface="Arial"/>
              <a:buNone/>
            </a:pPr>
            <a:r>
              <a:rPr lang="en" sz="1400">
                <a:solidFill>
                  <a:srgbClr val="000000"/>
                </a:solidFill>
              </a:rPr>
              <a:t>8. Merge the output of 7 with movies dataframe to show title. [Hint: call </a:t>
            </a:r>
            <a:r>
              <a:rPr lang="en" sz="1400"/>
              <a:t>pd</a:t>
            </a:r>
            <a:r>
              <a:rPr lang="en" sz="1400">
                <a:solidFill>
                  <a:srgbClr val="000000"/>
                </a:solidFill>
              </a:rPr>
              <a:t>.merge function]</a:t>
            </a:r>
            <a:endParaRPr sz="1400"/>
          </a:p>
          <a:p>
            <a:pPr indent="0" lvl="0" marL="0" rtl="0" algn="l">
              <a:lnSpc>
                <a:spcPct val="100000"/>
              </a:lnSpc>
              <a:spcBef>
                <a:spcPts val="0"/>
              </a:spcBef>
              <a:spcAft>
                <a:spcPts val="0"/>
              </a:spcAft>
              <a:buNone/>
            </a:pPr>
            <a:r>
              <a:rPr lang="en" sz="1400"/>
              <a:t>9. For each genre find top 3 movies</a:t>
            </a:r>
            <a:endParaRPr sz="1400">
              <a:solidFill>
                <a:srgbClr val="000000"/>
              </a:solidFill>
            </a:endParaRPr>
          </a:p>
        </p:txBody>
      </p:sp>
      <p:sp>
        <p:nvSpPr>
          <p:cNvPr id="74" name="Google Shape;74;p16"/>
          <p:cNvSpPr txBox="1"/>
          <p:nvPr/>
        </p:nvSpPr>
        <p:spPr>
          <a:xfrm>
            <a:off x="237175" y="4150375"/>
            <a:ext cx="8122800" cy="6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hlinkClick r:id="rId4"/>
              </a:rPr>
              <a:t>https://raw.githubusercontent.com/abulbasar/data/master/movielens/movies.csv</a:t>
            </a:r>
            <a:endParaRPr/>
          </a:p>
          <a:p>
            <a:pPr indent="0" lvl="0" marL="0" rtl="0" algn="l">
              <a:spcBef>
                <a:spcPts val="0"/>
              </a:spcBef>
              <a:spcAft>
                <a:spcPts val="0"/>
              </a:spcAft>
              <a:buClr>
                <a:schemeClr val="dk1"/>
              </a:buClr>
              <a:buSzPts val="1100"/>
              <a:buFont typeface="Arial"/>
              <a:buNone/>
            </a:pPr>
            <a:r>
              <a:rPr lang="en" sz="1100" u="sng">
                <a:solidFill>
                  <a:schemeClr val="accent5"/>
                </a:solidFill>
                <a:hlinkClick r:id="rId5">
                  <a:extLst>
                    <a:ext uri="{A12FA001-AC4F-418D-AE19-62706E023703}">
                      <ahyp:hlinkClr val="tx"/>
                    </a:ext>
                  </a:extLst>
                </a:hlinkClick>
              </a:rPr>
              <a:t>https://raw.githubusercontent.com/abulbasar/data/master/movielens/ratings.csv</a:t>
            </a:r>
            <a:endParaRPr>
              <a:solidFill>
                <a:schemeClr val="dk1"/>
              </a:solidFill>
            </a:endParaRPr>
          </a:p>
          <a:p>
            <a:pPr indent="0" lvl="0" marL="0" rtl="0" algn="l">
              <a:spcBef>
                <a:spcPts val="0"/>
              </a:spcBef>
              <a:spcAft>
                <a:spcPts val="0"/>
              </a:spcAft>
              <a:buNone/>
            </a:pPr>
            <a:r>
              <a:t/>
            </a:r>
            <a:endParaRPr/>
          </a:p>
        </p:txBody>
      </p:sp>
      <p:sp>
        <p:nvSpPr>
          <p:cNvPr id="75" name="Google Shape;7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Regression: Power Demand Forecast</a:t>
            </a:r>
            <a:endParaRPr/>
          </a:p>
        </p:txBody>
      </p:sp>
      <p:sp>
        <p:nvSpPr>
          <p:cNvPr id="81" name="Google Shape;81;p17"/>
          <p:cNvSpPr txBox="1"/>
          <p:nvPr>
            <p:ph idx="1" type="body"/>
          </p:nvPr>
        </p:nvSpPr>
        <p:spPr>
          <a:xfrm>
            <a:off x="311700" y="1116600"/>
            <a:ext cx="8520600" cy="3731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400"/>
              <a:t>Problem description: </a:t>
            </a:r>
            <a:r>
              <a:rPr lang="en" sz="1400" u="sng">
                <a:solidFill>
                  <a:schemeClr val="hlink"/>
                </a:solidFill>
                <a:hlinkClick r:id="rId3"/>
              </a:rPr>
              <a:t>https://archive.ics.uci.edu/ml/datasets/combined+cycle+power+plant</a:t>
            </a:r>
            <a:endParaRPr sz="1400"/>
          </a:p>
          <a:p>
            <a:pPr indent="-317500" lvl="0" marL="457200" rtl="0" algn="l">
              <a:spcBef>
                <a:spcPts val="1200"/>
              </a:spcBef>
              <a:spcAft>
                <a:spcPts val="0"/>
              </a:spcAft>
              <a:buSzPts val="1400"/>
              <a:buAutoNum type="arabicPeriod"/>
            </a:pPr>
            <a:r>
              <a:rPr lang="en" sz="1400">
                <a:solidFill>
                  <a:schemeClr val="dk1"/>
                </a:solidFill>
              </a:rPr>
              <a:t>Data is provided in two formats - xlsx and ods. Use pd.read_excel to load the data .xlsx file. The excel file has 5 sheets. Create a dataframe for each and concatenate them into a single dataframe. [Hint: use pd.concat function]. Note: one column need to renamed: PE =&gt; EP to be consistent with the problem statement.</a:t>
            </a:r>
            <a:endParaRPr sz="1400">
              <a:solidFill>
                <a:schemeClr val="dk1"/>
              </a:solidFill>
            </a:endParaRPr>
          </a:p>
          <a:p>
            <a:pPr indent="-317500" lvl="0" marL="457200" rtl="0" algn="l">
              <a:spcBef>
                <a:spcPts val="0"/>
              </a:spcBef>
              <a:spcAft>
                <a:spcPts val="0"/>
              </a:spcAft>
              <a:buSzPts val="1400"/>
              <a:buAutoNum type="arabicPeriod"/>
            </a:pPr>
            <a:r>
              <a:rPr lang="en" sz="1400">
                <a:solidFill>
                  <a:schemeClr val="dk1"/>
                </a:solidFill>
              </a:rPr>
              <a:t>Create training and test set with 70/30 ratio and random seed = 1. </a:t>
            </a:r>
            <a:r>
              <a:rPr lang="en" sz="1400"/>
              <a:t>Predict EP based on the other variables as features (AT, RH, V and AP). </a:t>
            </a:r>
            <a:endParaRPr sz="1400"/>
          </a:p>
          <a:p>
            <a:pPr indent="-317500" lvl="0" marL="457200" rtl="0" algn="l">
              <a:spcBef>
                <a:spcPts val="0"/>
              </a:spcBef>
              <a:spcAft>
                <a:spcPts val="0"/>
              </a:spcAft>
              <a:buSzPts val="1400"/>
              <a:buAutoNum type="arabicPeriod"/>
            </a:pPr>
            <a:r>
              <a:rPr lang="en" sz="1400"/>
              <a:t>Calculate R2 and RMSE for training and test data. [Answer: 0.9287, 0.9284 (r2) 4.55 4.57 (rmse)]</a:t>
            </a:r>
            <a:endParaRPr sz="1400"/>
          </a:p>
          <a:p>
            <a:pPr indent="-317500" lvl="0" marL="457200" rtl="0" algn="l">
              <a:spcBef>
                <a:spcPts val="0"/>
              </a:spcBef>
              <a:spcAft>
                <a:spcPts val="0"/>
              </a:spcAft>
              <a:buSzPts val="1400"/>
              <a:buAutoNum type="arabicPeriod"/>
            </a:pPr>
            <a:r>
              <a:rPr lang="en" sz="1400"/>
              <a:t>Find the residuals (y</a:t>
            </a:r>
            <a:r>
              <a:rPr baseline="-25000" lang="en" sz="1400"/>
              <a:t>predict</a:t>
            </a:r>
            <a:r>
              <a:rPr lang="en" sz="1400"/>
              <a:t> - y</a:t>
            </a:r>
            <a:r>
              <a:rPr baseline="-25000" lang="en" sz="1400"/>
              <a:t>true</a:t>
            </a:r>
            <a:r>
              <a:rPr lang="en" sz="1400"/>
              <a:t>) on the test data and plot histogram to see its distribution. Ideally the histogram of the residuals should look "gaussian normal". Do a scatter plot for residual vs actual. Observe whether the residuals are consistently same for entire range of actual. </a:t>
            </a:r>
            <a:endParaRPr sz="1400"/>
          </a:p>
          <a:p>
            <a:pPr indent="-317500" lvl="0" marL="457200" rtl="0" algn="l">
              <a:spcBef>
                <a:spcPts val="0"/>
              </a:spcBef>
              <a:spcAft>
                <a:spcPts val="0"/>
              </a:spcAft>
              <a:buClr>
                <a:schemeClr val="dk1"/>
              </a:buClr>
              <a:buSzPts val="1400"/>
              <a:buAutoNum type="arabicPeriod"/>
            </a:pPr>
            <a:r>
              <a:rPr lang="en" sz="1400">
                <a:solidFill>
                  <a:schemeClr val="dk1"/>
                </a:solidFill>
              </a:rPr>
              <a:t>Which features are positively related with the outcome and which are negatively related?</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 sz="1400">
                <a:solidFill>
                  <a:schemeClr val="dk1"/>
                </a:solidFill>
              </a:rPr>
              <a:t>Which feature is the strongest predictor?</a:t>
            </a:r>
            <a:endParaRPr sz="1400"/>
          </a:p>
          <a:p>
            <a:pPr indent="-317500" lvl="0" marL="457200" rtl="0" algn="l">
              <a:spcBef>
                <a:spcPts val="0"/>
              </a:spcBef>
              <a:spcAft>
                <a:spcPts val="0"/>
              </a:spcAft>
              <a:buSzPts val="1400"/>
              <a:buAutoNum type="arabicPeriod"/>
            </a:pPr>
            <a:r>
              <a:rPr lang="en" sz="1400"/>
              <a:t>Improve your model using log transformation of the output and polynomial transformation of the features with degree = 2 [Answer: 0.9371, 0.9369]. Also, plot the residual on the test data.</a:t>
            </a:r>
            <a:endParaRPr sz="1400"/>
          </a:p>
        </p:txBody>
      </p:sp>
      <p:sp>
        <p:nvSpPr>
          <p:cNvPr id="82" name="Google Shape;8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Regression: House price prediction</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1200">
                <a:solidFill>
                  <a:schemeClr val="dk1"/>
                </a:solidFill>
              </a:rPr>
              <a:t>Find the original problem description in </a:t>
            </a:r>
            <a:r>
              <a:rPr lang="en" sz="1200" u="sng">
                <a:solidFill>
                  <a:schemeClr val="accent5"/>
                </a:solidFill>
                <a:hlinkClick r:id="rId3">
                  <a:extLst>
                    <a:ext uri="{A12FA001-AC4F-418D-AE19-62706E023703}">
                      <ahyp:hlinkClr val="tx"/>
                    </a:ext>
                  </a:extLst>
                </a:hlinkClick>
              </a:rPr>
              <a:t>kaggle</a:t>
            </a:r>
            <a:r>
              <a:rPr lang="en" sz="1200">
                <a:solidFill>
                  <a:schemeClr val="dk1"/>
                </a:solidFill>
              </a:rPr>
              <a:t> here. SalePrice is the outcome variable. Use </a:t>
            </a:r>
            <a:r>
              <a:rPr lang="en" sz="1200" u="sng">
                <a:solidFill>
                  <a:schemeClr val="accent5"/>
                </a:solidFill>
                <a:hlinkClick r:id="rId4">
                  <a:extLst>
                    <a:ext uri="{A12FA001-AC4F-418D-AE19-62706E023703}">
                      <ahyp:hlinkClr val="tx"/>
                    </a:ext>
                  </a:extLst>
                </a:hlinkClick>
              </a:rPr>
              <a:t>a clean version of the data</a:t>
            </a:r>
            <a:r>
              <a:rPr lang="en" sz="1200">
                <a:solidFill>
                  <a:schemeClr val="dk1"/>
                </a:solidFill>
              </a:rPr>
              <a:t> that has been treated for null values. Take a look at </a:t>
            </a:r>
            <a:r>
              <a:rPr lang="en" sz="1200" u="sng">
                <a:solidFill>
                  <a:schemeClr val="hlink"/>
                </a:solidFill>
                <a:hlinkClick r:id="rId5"/>
              </a:rPr>
              <a:t>this notebook</a:t>
            </a:r>
            <a:r>
              <a:rPr lang="en" sz="1200">
                <a:solidFill>
                  <a:schemeClr val="dk1"/>
                </a:solidFill>
              </a:rPr>
              <a:t> to see null value treatment. </a:t>
            </a:r>
            <a:endParaRPr sz="1200">
              <a:solidFill>
                <a:schemeClr val="dk1"/>
              </a:solidFill>
            </a:endParaRPr>
          </a:p>
          <a:p>
            <a:pPr indent="-293370" lvl="0" marL="457200" rtl="0" algn="l">
              <a:spcBef>
                <a:spcPts val="1600"/>
              </a:spcBef>
              <a:spcAft>
                <a:spcPts val="0"/>
              </a:spcAft>
              <a:buClr>
                <a:schemeClr val="dk1"/>
              </a:buClr>
              <a:buSzPct val="100000"/>
              <a:buAutoNum type="arabicPeriod"/>
            </a:pPr>
            <a:r>
              <a:rPr lang="en" sz="1200">
                <a:solidFill>
                  <a:schemeClr val="dk1"/>
                </a:solidFill>
              </a:rPr>
              <a:t>Find number of categorical and continuous variables</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Some observations contain null values in SalesPrice. Drop the rows that contain NaN [use: df.dropna()].</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Divide the data into training and test data 70/30 ratio with seed =1</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How many outliers are there as per Box Whisker plot?</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Take log transformation of the outcome variable and check how many outliers remain in the dataset. </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Build a Linear Regression model to estimate SalePrice using remainings columns except Id. Calculate R2 and RMSE. Plot errors (histogram and boxplot). Plot the coefficient values.</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Now try other regression models like Lasso, Ridge, Elastic net</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Take log of the sales price, do the R2 and rmse scores improve?</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Try model with polynomial terms with degree = 2</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Build an end-to-pipeline. [Hint: use </a:t>
            </a:r>
            <a:r>
              <a:rPr lang="en" sz="1200" u="sng">
                <a:solidFill>
                  <a:schemeClr val="hlink"/>
                </a:solidFill>
                <a:hlinkClick r:id="rId6"/>
              </a:rPr>
              <a:t>this notebook</a:t>
            </a:r>
            <a:r>
              <a:rPr lang="en" sz="1200">
                <a:solidFill>
                  <a:schemeClr val="dk1"/>
                </a:solidFill>
              </a:rPr>
              <a:t> as an example.] </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Try PCA - what is required number of principal components to retain 99% of variance?</a:t>
            </a:r>
            <a:endParaRPr sz="1200">
              <a:solidFill>
                <a:schemeClr val="dk1"/>
              </a:solidFill>
            </a:endParaRPr>
          </a:p>
          <a:p>
            <a:pPr indent="-293370" lvl="0" marL="457200" rtl="0" algn="l">
              <a:spcBef>
                <a:spcPts val="0"/>
              </a:spcBef>
              <a:spcAft>
                <a:spcPts val="0"/>
              </a:spcAft>
              <a:buClr>
                <a:schemeClr val="dk1"/>
              </a:buClr>
              <a:buSzPct val="100000"/>
              <a:buAutoNum type="arabicPeriod"/>
            </a:pPr>
            <a:r>
              <a:rPr lang="en" sz="1200">
                <a:solidFill>
                  <a:schemeClr val="dk1"/>
                </a:solidFill>
              </a:rPr>
              <a:t>Try Feature selection - find 10 most significant features of the dataset. </a:t>
            </a:r>
            <a:endParaRPr sz="1200">
              <a:solidFill>
                <a:schemeClr val="dk1"/>
              </a:solidFill>
            </a:endParaRPr>
          </a:p>
          <a:p>
            <a:pPr indent="0" lvl="0" marL="0" rtl="0" algn="l">
              <a:spcBef>
                <a:spcPts val="1600"/>
              </a:spcBef>
              <a:spcAft>
                <a:spcPts val="0"/>
              </a:spcAft>
              <a:buNone/>
            </a:pPr>
            <a:r>
              <a:rPr lang="en" sz="1200" u="sng">
                <a:solidFill>
                  <a:schemeClr val="hlink"/>
                </a:solidFill>
                <a:hlinkClick r:id="rId7"/>
              </a:rPr>
              <a:t>Solution notebook</a:t>
            </a:r>
            <a:endParaRPr sz="1200">
              <a:solidFill>
                <a:schemeClr val="dk1"/>
              </a:solidFill>
            </a:endParaRPr>
          </a:p>
          <a:p>
            <a:pPr indent="0" lvl="0" marL="0" rtl="0" algn="l">
              <a:spcBef>
                <a:spcPts val="1600"/>
              </a:spcBef>
              <a:spcAft>
                <a:spcPts val="1600"/>
              </a:spcAft>
              <a:buNone/>
            </a:pPr>
            <a:r>
              <a:t/>
            </a:r>
            <a:endParaRPr sz="1200">
              <a:solidFill>
                <a:schemeClr val="dk1"/>
              </a:solidFill>
            </a:endParaRPr>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Machine learning as a service - end to end ap</a:t>
            </a:r>
            <a:r>
              <a:rPr lang="en"/>
              <a:t>plication</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https://drive.google.com/file/d/1utOqXtG4FnO_GObQem5TrcLu8cZ0kQO4/view?usp=sharing</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Classification - credit card fraud detection</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10832" lvl="0" marL="457200" rtl="0" algn="l">
              <a:spcBef>
                <a:spcPts val="0"/>
              </a:spcBef>
              <a:spcAft>
                <a:spcPts val="0"/>
              </a:spcAft>
              <a:buClr>
                <a:schemeClr val="dk1"/>
              </a:buClr>
              <a:buSzPct val="100000"/>
              <a:buAutoNum type="arabicPeriod"/>
            </a:pPr>
            <a:r>
              <a:rPr lang="en" sz="1400">
                <a:solidFill>
                  <a:schemeClr val="dk1"/>
                </a:solidFill>
              </a:rPr>
              <a:t>Load </a:t>
            </a:r>
            <a:r>
              <a:rPr lang="en" sz="1400" u="sng">
                <a:solidFill>
                  <a:schemeClr val="hlink"/>
                </a:solidFill>
                <a:hlinkClick r:id="rId3"/>
              </a:rPr>
              <a:t>creditcard-fraud.csv</a:t>
            </a:r>
            <a:endParaRPr sz="1400">
              <a:solidFill>
                <a:schemeClr val="dk1"/>
              </a:solidFill>
            </a:endParaRPr>
          </a:p>
          <a:p>
            <a:pPr indent="-310832" lvl="0" marL="457200" rtl="0" algn="l">
              <a:spcBef>
                <a:spcPts val="0"/>
              </a:spcBef>
              <a:spcAft>
                <a:spcPts val="0"/>
              </a:spcAft>
              <a:buClr>
                <a:schemeClr val="dk1"/>
              </a:buClr>
              <a:buSzPct val="100000"/>
              <a:buAutoNum type="arabicPeriod"/>
            </a:pPr>
            <a:r>
              <a:rPr lang="en" sz="1400">
                <a:solidFill>
                  <a:schemeClr val="dk1"/>
                </a:solidFill>
              </a:rPr>
              <a:t>How many records are there?</a:t>
            </a:r>
            <a:endParaRPr sz="1400">
              <a:solidFill>
                <a:schemeClr val="dk1"/>
              </a:solidFill>
            </a:endParaRPr>
          </a:p>
          <a:p>
            <a:pPr indent="-310832" lvl="0" marL="457200" rtl="0" algn="l">
              <a:spcBef>
                <a:spcPts val="0"/>
              </a:spcBef>
              <a:spcAft>
                <a:spcPts val="0"/>
              </a:spcAft>
              <a:buClr>
                <a:schemeClr val="dk1"/>
              </a:buClr>
              <a:buSzPct val="100000"/>
              <a:buAutoNum type="arabicPeriod"/>
            </a:pPr>
            <a:r>
              <a:rPr lang="en" sz="1400">
                <a:solidFill>
                  <a:schemeClr val="dk1"/>
                </a:solidFill>
              </a:rPr>
              <a:t>Class is the target variable in the dataset. How many distinct values are there? What is the proportion of each value in the whole dataset. </a:t>
            </a:r>
            <a:endParaRPr sz="1400">
              <a:solidFill>
                <a:schemeClr val="dk1"/>
              </a:solidFill>
            </a:endParaRPr>
          </a:p>
          <a:p>
            <a:pPr indent="-310832" lvl="0" marL="457200" rtl="0" algn="l">
              <a:spcBef>
                <a:spcPts val="0"/>
              </a:spcBef>
              <a:spcAft>
                <a:spcPts val="0"/>
              </a:spcAft>
              <a:buClr>
                <a:schemeClr val="dk1"/>
              </a:buClr>
              <a:buSzPct val="100000"/>
              <a:buAutoNum type="arabicPeriod"/>
            </a:pPr>
            <a:r>
              <a:rPr lang="en" sz="1400">
                <a:solidFill>
                  <a:schemeClr val="dk1"/>
                </a:solidFill>
              </a:rPr>
              <a:t>Divide the data in training and test set. Use top 70% of data in training and rest in testing.</a:t>
            </a:r>
            <a:endParaRPr sz="1400">
              <a:solidFill>
                <a:schemeClr val="dk1"/>
              </a:solidFill>
            </a:endParaRPr>
          </a:p>
          <a:p>
            <a:pPr indent="-310832" lvl="0" marL="457200" rtl="0" algn="l">
              <a:spcBef>
                <a:spcPts val="0"/>
              </a:spcBef>
              <a:spcAft>
                <a:spcPts val="0"/>
              </a:spcAft>
              <a:buClr>
                <a:schemeClr val="dk1"/>
              </a:buClr>
              <a:buSzPct val="100000"/>
              <a:buAutoNum type="arabicPeriod"/>
            </a:pPr>
            <a:r>
              <a:rPr lang="en" sz="1400">
                <a:solidFill>
                  <a:schemeClr val="dk1"/>
                </a:solidFill>
              </a:rPr>
              <a:t>Build a classifier for detection of fraud in credit card transactions. [Use "Class" as the target variable, V1 to V28 as features]</a:t>
            </a:r>
            <a:endParaRPr sz="1400">
              <a:solidFill>
                <a:schemeClr val="dk1"/>
              </a:solidFill>
            </a:endParaRPr>
          </a:p>
          <a:p>
            <a:pPr indent="-310832" lvl="0" marL="457200" rtl="0" algn="l">
              <a:spcBef>
                <a:spcPts val="0"/>
              </a:spcBef>
              <a:spcAft>
                <a:spcPts val="0"/>
              </a:spcAft>
              <a:buClr>
                <a:schemeClr val="dk1"/>
              </a:buClr>
              <a:buSzPct val="100000"/>
              <a:buAutoNum type="arabicPeriod"/>
            </a:pPr>
            <a:r>
              <a:rPr lang="en" sz="1400">
                <a:solidFill>
                  <a:schemeClr val="dk1"/>
                </a:solidFill>
              </a:rPr>
              <a:t>Find baseline accuracy [Answer: 0.998]</a:t>
            </a:r>
            <a:endParaRPr sz="1400">
              <a:solidFill>
                <a:schemeClr val="dk1"/>
              </a:solidFill>
            </a:endParaRPr>
          </a:p>
          <a:p>
            <a:pPr indent="-310832" lvl="0" marL="457200" rtl="0" algn="l">
              <a:spcBef>
                <a:spcPts val="0"/>
              </a:spcBef>
              <a:spcAft>
                <a:spcPts val="0"/>
              </a:spcAft>
              <a:buClr>
                <a:schemeClr val="dk1"/>
              </a:buClr>
              <a:buSzPct val="100000"/>
              <a:buAutoNum type="arabicPeriod"/>
            </a:pPr>
            <a:r>
              <a:rPr lang="en" sz="1400">
                <a:solidFill>
                  <a:schemeClr val="dk1"/>
                </a:solidFill>
              </a:rPr>
              <a:t>View the confusion matrix and find accuracy [0.999], Recall [0.509], Precision [0.797], AUC [0.97], F1 score [0.62], TPR [0.37], FPR [0.20]</a:t>
            </a:r>
            <a:endParaRPr sz="1400">
              <a:solidFill>
                <a:schemeClr val="dk1"/>
              </a:solidFill>
            </a:endParaRPr>
          </a:p>
          <a:p>
            <a:pPr indent="-310832" lvl="0" marL="457200" rtl="0" algn="l">
              <a:spcBef>
                <a:spcPts val="0"/>
              </a:spcBef>
              <a:spcAft>
                <a:spcPts val="0"/>
              </a:spcAft>
              <a:buClr>
                <a:schemeClr val="dk1"/>
              </a:buClr>
              <a:buSzPct val="100000"/>
              <a:buAutoNum type="arabicPeriod"/>
            </a:pPr>
            <a:r>
              <a:rPr lang="en" sz="1400">
                <a:solidFill>
                  <a:schemeClr val="dk1"/>
                </a:solidFill>
              </a:rPr>
              <a:t>Which metrics are independent of threshold value of probability? [Ans: AUC]</a:t>
            </a:r>
            <a:endParaRPr sz="1400">
              <a:solidFill>
                <a:schemeClr val="dk1"/>
              </a:solidFill>
            </a:endParaRPr>
          </a:p>
          <a:p>
            <a:pPr indent="-310832" lvl="0" marL="457200" rtl="0" algn="l">
              <a:spcBef>
                <a:spcPts val="0"/>
              </a:spcBef>
              <a:spcAft>
                <a:spcPts val="0"/>
              </a:spcAft>
              <a:buClr>
                <a:schemeClr val="dk1"/>
              </a:buClr>
              <a:buSzPct val="100000"/>
              <a:buAutoNum type="arabicPeriod"/>
            </a:pPr>
            <a:r>
              <a:rPr lang="en" sz="1400">
                <a:solidFill>
                  <a:schemeClr val="dk1"/>
                </a:solidFill>
              </a:rPr>
              <a:t>As per the model prediction, what will be total value for all test records in FN? What is total amount for the records in TN. What is the proportion of sum of amounts in FN by TN [Answer: 8336.05, 7224977.58, 0.1%]</a:t>
            </a:r>
            <a:endParaRPr sz="1400">
              <a:solidFill>
                <a:schemeClr val="dk1"/>
              </a:solidFill>
            </a:endParaRPr>
          </a:p>
          <a:p>
            <a:pPr indent="0" lvl="0" marL="0" rtl="0" algn="l">
              <a:spcBef>
                <a:spcPts val="1600"/>
              </a:spcBef>
              <a:spcAft>
                <a:spcPts val="1200"/>
              </a:spcAft>
              <a:buNone/>
            </a:pPr>
            <a:r>
              <a:t/>
            </a:r>
            <a:endParaRPr/>
          </a:p>
        </p:txBody>
      </p:sp>
      <p:sp>
        <p:nvSpPr>
          <p:cNvPr id="102" name="Google Shape;10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https://textract.readthedocs.io/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Post </a:t>
            </a:r>
            <a:r>
              <a:rPr lang="en"/>
              <a:t>training quiz</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https://docs.google.com/forms/d/e/1FAIpQLSfBWViR20nYGDlHxYGKQUMjcO8aLMs-vTy8hfFgg--u0FTcUA/viewform</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